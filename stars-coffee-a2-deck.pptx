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Компания — Stars Coffee. Направление — анализ трендов. Этап — дизайн исследования: факты, симптомы, вопросы, гипотезы, способ проверки. Проработаны четыре блока: цены и поведение, форматы и конкуренция, digital и лояльность, ассортимент и меню.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Шесть изменений: пять по рынку и одно по самому предложению сети. Отбирали по четырём критериям: устойчивость, масштаб, подтверждённость минимум двумя источниками, прямая связь со Stars Coffee. Это рабочая карта — часть изменений после проверки может отпасть.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цифр. Главное произнести вслух: это цифры по рынку, а не по сети. Период у каждой свой и подписан. Из них видно, что рост рынка сейчас больше про цену, чем про количество покупок.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Цена +13% при инфляции 4,72%, покупки −4%. Причины — со стороны себестоимости и со стороны готовности платить. Влияние на сеть формулируем как вопрос: снижают ли гости частоту, меняют ли заказ, уходят ли в другой формат. Данных по самой сети у нас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Ось: быстро и доступно против качества и опыта. Self-service растёт, классический формат сокращается, чек различается в разы. Ключевое наблюдение: конкуренция может идти между сценариями, а не между брендами. Один человек может использовать оба формата.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 сети есть приложение, бонусы, оплата бонусами. Но активное использование приложений ресторанов — 24%, у молодых выше. У конкурентов набор механик шире: уровни, рефералы, персональные предложения. Мы не говорим, что у них лучше — мы говорим, что набор разный и надо проверить, что реально возвращает гостя.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Смотрели уже не рынок, а само предложение сети: меню, агрегаторы и сообщество ВКонтакте. Заметную роль занимают готовая еда, сезонные напитки и коллаборации; ЗОЖ-позиций почти нет, кроме матчи. Оговариваем вслух: это обзор текущего меню, истории по структуре продаж у нас нет, поэтому про динамику мы не говорим. Проверить нужно другое: влияют ли еда и спешлы на средний чек и повторные визиты.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Четыре вопроса выросли прямо из фактов и наблюдений. Пять гипотез — все проверяемы опросом, разбором меню или данными сети. Ни одна пока не проверена.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Таблица «что проверяем → какие данные → каким методом». Рабочий инструмент команды — карточка тренда из шести шагов; она же наш формат сдачи каждого тренда.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Шаги до проверки гипотез, включая разбор меню и линейки спешлов. Два запроса: командам опросов и анализа рынка. Пять вопросов руководителю — по границам трендов и горизонту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Состав и вклад каждого.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https://www.bfm.ru/news/617830" TargetMode="External"/><Relationship Id="rId4" Type="http://schemas.openxmlformats.org/officeDocument/2006/relationships/hyperlink" Target="https://www.kommersant.ru/doc/8497245" TargetMode="External"/><Relationship Id="rId5" Type="http://schemas.openxmlformats.org/officeDocument/2006/relationships/hyperlink" Target="https://t-j.ru/latte-bliss-in-2026/" TargetMode="External"/><Relationship Id="rId6" Type="http://schemas.openxmlformats.org/officeDocument/2006/relationships/hyperlink" Target="https://romir.ru/feed/v-magazin-za-kofe" TargetMode="External"/><Relationship Id="rId7" Type="http://schemas.openxmlformats.org/officeDocument/2006/relationships/hyperlink" Target="https://romir.ru/feed/kachestvo-edy-stanovitsia-glavnym-faktorom-loialnosti-gostei-horeca" TargetMode="External"/><Relationship Id="rId8" Type="http://schemas.openxmlformats.org/officeDocument/2006/relationships/hyperlink" Target="https://vc.ru/invest/2997702-kofeynye-franshizy-chto-nuzhno-znat-pered-otkrytiem" TargetMode="External"/><Relationship Id="rId9" Type="http://schemas.openxmlformats.org/officeDocument/2006/relationships/hyperlink" Target="https://stars-coffee.ru/tpost/brfv0sd001-programma-loyalnosti-stars-coffee" TargetMode="External"/><Relationship Id="rId10" Type="http://schemas.openxmlformats.org/officeDocument/2006/relationships/hyperlink" Target="https://www.kommersant.ru/doc/8228853" TargetMode="External"/><Relationship Id="rId11" Type="http://schemas.openxmlformats.org/officeDocument/2006/relationships/hyperlink" Target="https://www.kommersant.ru/doc/8361125" TargetMode="External"/><Relationship Id="rId12" Type="http://schemas.openxmlformats.org/officeDocument/2006/relationships/hyperlink" Target="https://marketing.rbc.ru/articles/16368" TargetMode="External"/><Relationship Id="rId13" Type="http://schemas.openxmlformats.org/officeDocument/2006/relationships/hyperlink" Target="https://www.rbc.ru/radio/08/01/2026/695f51799a7947ff4e596e75" TargetMode="External"/><Relationship Id="rId14" Type="http://schemas.openxmlformats.org/officeDocument/2006/relationships/hyperlink" Target="https://marketing.rbc.ru/research/34476" TargetMode="External"/><Relationship Id="rId15" Type="http://schemas.openxmlformats.org/officeDocument/2006/relationships/hyperlink" Target="https://stars-coffee.ru/franchise" TargetMode="External"/><Relationship Id="rId16" Type="http://schemas.openxmlformats.org/officeDocument/2006/relationships/hyperlink" Target="https://stars-coffee.ru/" TargetMode="External"/><Relationship Id="rId17" Type="http://schemas.openxmlformats.org/officeDocument/2006/relationships/hyperlink" Target="https://play.google.com/store/apps/details?id=ru.stars_coffee.app&amp;hl=ru" TargetMode="External"/><Relationship Id="rId18" Type="http://schemas.openxmlformats.org/officeDocument/2006/relationships/hyperlink" Target="https://marketing.rbc.ru/articles/15541/" TargetMode="External"/><Relationship Id="rId19" Type="http://schemas.openxmlformats.org/officeDocument/2006/relationships/hyperlink" Target="https://marketing.rbc.ru/articles/16331/" TargetMode="External"/><Relationship Id="rId20" Type="http://schemas.openxmlformats.org/officeDocument/2006/relationships/hyperlink" Target="https://marketing.rbc.ru/articles/15544/" TargetMode="External"/><Relationship Id="rId21" Type="http://schemas.openxmlformats.org/officeDocument/2006/relationships/hyperlink" Target="https://onepricecoffee.com/guests/loyalty/" TargetMode="External"/><Relationship Id="rId22" Type="http://schemas.openxmlformats.org/officeDocument/2006/relationships/hyperlink" Target="https://onepricecoffee.com/guests/promo/teper-all-friends-perezapusk-programmy-loyalnosti/" TargetMode="External"/><Relationship Id="rId23" Type="http://schemas.openxmlformats.org/officeDocument/2006/relationships/hyperlink" Target="https://cofix.global/ru-ru/cofix-club/" TargetMode="External"/><Relationship Id="rId24" Type="http://schemas.openxmlformats.org/officeDocument/2006/relationships/hyperlink" Target="https://vk.ru/starscoffee_official" TargetMode="External"/><Relationship Id="rId25" Type="http://schemas.openxmlformats.org/officeDocument/2006/relationships/hyperlink" Target="https://menu.restik.com/starscoffeespb#vypechka-pastries-mkhbwzat" TargetMode="External"/><Relationship Id="rId26" Type="http://schemas.openxmlformats.org/officeDocument/2006/relationships/hyperlink" Target="https://web.kuper.ru/restaurant/StarsCoffee?sid=67228#starscoffee/lanch-e090f95" TargetMode="External"/><Relationship Id="rId27" Type="http://schemas.openxmlformats.org/officeDocument/2006/relationships/hyperlink" Target="https://kontur.ru/articles/2346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1371596" y="2174430"/>
            <a:ext cx="1142997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541865" y="2546706"/>
            <a:ext cx="1591729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1896528" y="2732844"/>
            <a:ext cx="1210730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r:id="rId5"/>
          </p:cNvPr>
          <p:cNvSpPr/>
          <p:nvPr/>
        </p:nvSpPr>
        <p:spPr>
          <a:xfrm>
            <a:off x="541865" y="2918982"/>
            <a:ext cx="448732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r:id="rId6"/>
          </p:cNvPr>
          <p:cNvSpPr/>
          <p:nvPr/>
        </p:nvSpPr>
        <p:spPr>
          <a:xfrm>
            <a:off x="2031994" y="3096659"/>
            <a:ext cx="1015997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>
            <a:hlinkClick r:id="rId6"/>
          </p:cNvPr>
          <p:cNvSpPr/>
          <p:nvPr/>
        </p:nvSpPr>
        <p:spPr>
          <a:xfrm>
            <a:off x="541865" y="3282797"/>
            <a:ext cx="956730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>
            <a:hlinkClick r:id="rId7"/>
          </p:cNvPr>
          <p:cNvSpPr/>
          <p:nvPr/>
        </p:nvSpPr>
        <p:spPr>
          <a:xfrm>
            <a:off x="541865" y="3655073"/>
            <a:ext cx="1777995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r:id="rId8"/>
          </p:cNvPr>
          <p:cNvSpPr/>
          <p:nvPr/>
        </p:nvSpPr>
        <p:spPr>
          <a:xfrm>
            <a:off x="541865" y="4027349"/>
            <a:ext cx="1269996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>
            <a:hlinkClick r:id="rId9"/>
          </p:cNvPr>
          <p:cNvSpPr/>
          <p:nvPr/>
        </p:nvSpPr>
        <p:spPr>
          <a:xfrm>
            <a:off x="541865" y="4399625"/>
            <a:ext cx="1464729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>
            <a:hlinkClick r:id="rId10"/>
          </p:cNvPr>
          <p:cNvSpPr/>
          <p:nvPr/>
        </p:nvSpPr>
        <p:spPr>
          <a:xfrm>
            <a:off x="3369724" y="2174430"/>
            <a:ext cx="1591729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>
            <a:hlinkClick r:id="rId11"/>
          </p:cNvPr>
          <p:cNvSpPr/>
          <p:nvPr/>
        </p:nvSpPr>
        <p:spPr>
          <a:xfrm>
            <a:off x="3369724" y="2546706"/>
            <a:ext cx="1591729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>
            <a:hlinkClick r:id="rId12"/>
          </p:cNvPr>
          <p:cNvSpPr/>
          <p:nvPr/>
        </p:nvSpPr>
        <p:spPr>
          <a:xfrm>
            <a:off x="3369724" y="2918982"/>
            <a:ext cx="1972728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>
            <a:hlinkClick r:id="rId13"/>
          </p:cNvPr>
          <p:cNvSpPr/>
          <p:nvPr/>
        </p:nvSpPr>
        <p:spPr>
          <a:xfrm>
            <a:off x="3369724" y="3282797"/>
            <a:ext cx="1464729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r:id="rId14"/>
          </p:cNvPr>
          <p:cNvSpPr/>
          <p:nvPr/>
        </p:nvSpPr>
        <p:spPr>
          <a:xfrm>
            <a:off x="3369724" y="3655073"/>
            <a:ext cx="1972728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>
            <a:hlinkClick r:id="rId15"/>
          </p:cNvPr>
          <p:cNvSpPr/>
          <p:nvPr/>
        </p:nvSpPr>
        <p:spPr>
          <a:xfrm>
            <a:off x="3369724" y="4027349"/>
            <a:ext cx="1591729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>
            <a:hlinkClick r:id="rId16"/>
          </p:cNvPr>
          <p:cNvSpPr/>
          <p:nvPr/>
        </p:nvSpPr>
        <p:spPr>
          <a:xfrm>
            <a:off x="7340581" y="1988292"/>
            <a:ext cx="956730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>
            <a:hlinkClick r:id="rId17"/>
          </p:cNvPr>
          <p:cNvSpPr/>
          <p:nvPr/>
        </p:nvSpPr>
        <p:spPr>
          <a:xfrm>
            <a:off x="6197584" y="2360568"/>
            <a:ext cx="2099727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>
            <a:hlinkClick r:id="rId18"/>
          </p:cNvPr>
          <p:cNvSpPr/>
          <p:nvPr/>
        </p:nvSpPr>
        <p:spPr>
          <a:xfrm>
            <a:off x="6197584" y="2732844"/>
            <a:ext cx="1972728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>
            <a:hlinkClick r:id="rId19"/>
          </p:cNvPr>
          <p:cNvSpPr/>
          <p:nvPr/>
        </p:nvSpPr>
        <p:spPr>
          <a:xfrm>
            <a:off x="6197584" y="3096659"/>
            <a:ext cx="1972728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r:id="rId20"/>
          </p:cNvPr>
          <p:cNvSpPr/>
          <p:nvPr/>
        </p:nvSpPr>
        <p:spPr>
          <a:xfrm>
            <a:off x="6197584" y="3468935"/>
            <a:ext cx="1972728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>
            <a:hlinkClick r:id="rId21"/>
          </p:cNvPr>
          <p:cNvSpPr/>
          <p:nvPr/>
        </p:nvSpPr>
        <p:spPr>
          <a:xfrm>
            <a:off x="6197584" y="3841211"/>
            <a:ext cx="2099727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>
            <a:hlinkClick r:id="rId22"/>
          </p:cNvPr>
          <p:cNvSpPr/>
          <p:nvPr/>
        </p:nvSpPr>
        <p:spPr>
          <a:xfrm>
            <a:off x="6324583" y="4213487"/>
            <a:ext cx="2099727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>
            <a:hlinkClick r:id="rId23"/>
          </p:cNvPr>
          <p:cNvSpPr/>
          <p:nvPr/>
        </p:nvSpPr>
        <p:spPr>
          <a:xfrm>
            <a:off x="7238981" y="4399625"/>
            <a:ext cx="1015997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>
            <a:hlinkClick r:id="rId23"/>
          </p:cNvPr>
          <p:cNvSpPr/>
          <p:nvPr/>
        </p:nvSpPr>
        <p:spPr>
          <a:xfrm>
            <a:off x="6197584" y="4577302"/>
            <a:ext cx="829731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>
            <a:hlinkClick r:id="rId24"/>
          </p:cNvPr>
          <p:cNvSpPr/>
          <p:nvPr/>
        </p:nvSpPr>
        <p:spPr>
          <a:xfrm>
            <a:off x="9025443" y="2174430"/>
            <a:ext cx="1650995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r:id="rId25"/>
          </p:cNvPr>
          <p:cNvSpPr/>
          <p:nvPr/>
        </p:nvSpPr>
        <p:spPr>
          <a:xfrm>
            <a:off x="9025443" y="2546706"/>
            <a:ext cx="1904995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>
            <a:hlinkClick r:id="rId26"/>
          </p:cNvPr>
          <p:cNvSpPr/>
          <p:nvPr/>
        </p:nvSpPr>
        <p:spPr>
          <a:xfrm>
            <a:off x="9025443" y="2918982"/>
            <a:ext cx="2226727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>
            <a:hlinkClick r:id="rId27"/>
          </p:cNvPr>
          <p:cNvSpPr/>
          <p:nvPr/>
        </p:nvSpPr>
        <p:spPr>
          <a:xfrm>
            <a:off x="9152443" y="3282797"/>
            <a:ext cx="1464729" cy="1438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